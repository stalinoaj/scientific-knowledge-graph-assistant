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0009-5E98-2F8B-1C14-A4BA30197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F93BE-31CA-884A-1B79-0030E7E84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61E81-CFDC-D927-AD8E-6C205E32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47E37-942F-2958-A60F-6E971284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A182-1B56-6ED8-B331-7A70A035A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61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50CF-E41A-E51A-3D3D-C1797F17C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5A54B-C28D-9AC0-644D-A6CB88861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F38AA-7BB9-507F-4878-B56ED961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FE8AB-0993-B3C2-12A1-25022309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88932-FC0C-F162-C554-AFD28E6D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3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36F7-6BE0-C542-262D-C38BB170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CB0ED-6D64-9AD6-6A5A-E9FFC0BA5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F2FF1-5C4E-3FB3-7FA9-64A6C5D89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EC2A-8D62-B8AE-9BCF-E988C68F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39D0B-D99C-C8C1-7EF7-5CD6704E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2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0B7A-D419-4ACB-0160-FF9843B2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9E934-2AE2-EC29-CDC0-9D16A73F6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847E6-DFE3-3775-2C77-063A69430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39361-282C-F6AF-6A23-1F783DF8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A6A8F-87C6-28B2-CFFC-A7A974AC5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96053-8A89-1E77-0D4B-F76956DA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9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8E3F-CBB2-F2D5-EBA1-07E1CF0D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996F4-CA98-77A4-8F36-8F09A0AC7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90BCE-388D-97C7-8E08-2F4BDB505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E2F2A-51EB-0975-693A-4F407A1FE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36923-B24C-5D53-E7B7-E230EF704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3615A-AF94-7C96-1209-24E93C7F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CF486-CECD-E946-CC76-2F62F932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503429-DB1A-0E5F-966B-523602C9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36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2459-7342-7D79-1773-956A8AE5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797BF-AD2F-0167-DEB5-D65E3F50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668AB-8C4D-C3CB-735B-0FCE801D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D3432-9CF5-AF80-50E9-EACE41F7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8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AAB0D-496F-4B9D-13C7-58B8212D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387B2-1E6E-968A-F4D2-4898436F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0E1DE-D918-3142-7225-05224E3D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6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1BA8-76D4-12E5-E1E5-D956E61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D8333-D265-CA6D-A76F-6710E875B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28A09-C626-92CD-944C-FAAA4A19F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4723F-511E-5B0F-2B9C-33EBDF74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A0169-EBAF-777A-412F-B7565349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C8121-7DB8-295A-EF3D-3CDF320A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0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9A47-CE6B-EA61-4198-DE8846E1A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62AC9-9A3C-8402-2636-18C2B77DB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1A81A-F980-089B-871C-8A9DFC5CF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9B753-A43F-89C7-5757-0B87F8ED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833BD-2650-64B1-42FA-7C826C69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02068-B3E8-1F08-C01F-89E124A0F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3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E813A-03A4-CB8B-FF58-70AD2F39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1A9AE-A762-A4A5-3959-A61BBC80C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0549A-F2C1-1697-B40B-95D65BE5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9D0BD-A005-8A31-8228-F9A0A4E7B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47212-1195-5AE5-451A-E2BA140E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24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81CFE-7058-275B-AC16-1EABD5578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CD1CB-89E5-EDC5-4C48-0101CBC29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FECA2-23AE-4A55-D12A-E1A0B1FE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67B1-77FC-35B2-B337-6DB99D66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C2CE2-C665-1DD0-0736-F56F38B7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2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1CDF6C-B730-C88A-296E-4E93F6730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0B49E-33DC-8C62-9DD7-14E2C39DF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B900F-C402-6691-0128-9A95A684B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FB109-651F-4C84-9A4C-9F91077151B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4CA9-D8E5-0945-A08B-F4FE2F417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861B2-F75C-BEBC-FC05-B88388DE1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4C042-3A54-4821-A7B6-B4C3B6C18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6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1E9536-ED36-FEA4-6BA3-D44C8FFD3A3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F5AB2-9DC5-2BA6-A03E-BAFE41E6790B}"/>
              </a:ext>
            </a:extLst>
          </p:cNvPr>
          <p:cNvSpPr txBox="1"/>
          <p:nvPr/>
        </p:nvSpPr>
        <p:spPr>
          <a:xfrm>
            <a:off x="381000" y="1905000"/>
            <a:ext cx="838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FFFFFF"/>
                </a:solidFill>
              </a:rPr>
              <a:t>Scientific Knowledge Graph Assistant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F444B-9761-D897-683B-33B8ED129F8A}"/>
              </a:ext>
            </a:extLst>
          </p:cNvPr>
          <p:cNvSpPr txBox="1"/>
          <p:nvPr/>
        </p:nvSpPr>
        <p:spPr>
          <a:xfrm>
            <a:off x="381000" y="3048000"/>
            <a:ext cx="838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AI-Powered Research Literature Exploration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2AA5B-53C5-FF73-A825-6813526D4E04}"/>
              </a:ext>
            </a:extLst>
          </p:cNvPr>
          <p:cNvSpPr txBox="1"/>
          <p:nvPr/>
        </p:nvSpPr>
        <p:spPr>
          <a:xfrm>
            <a:off x="381000" y="40640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Thesis Defense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35D22-07DB-DE41-8E01-927852FADE44}"/>
              </a:ext>
            </a:extLst>
          </p:cNvPr>
          <p:cNvSpPr txBox="1"/>
          <p:nvPr/>
        </p:nvSpPr>
        <p:spPr>
          <a:xfrm>
            <a:off x="381000" y="5715000"/>
            <a:ext cx="838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</a:rPr>
              <a:t>January 2026</a:t>
            </a:r>
          </a:p>
        </p:txBody>
      </p:sp>
    </p:spTree>
    <p:extLst>
      <p:ext uri="{BB962C8B-B14F-4D97-AF65-F5344CB8AC3E}">
        <p14:creationId xmlns:p14="http://schemas.microsoft.com/office/powerpoint/2010/main" val="394464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8423F9-9D8F-FBEC-C7A8-7736BAD4FD16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6B9F2-8121-F2C0-46E4-7236627BD40F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A5F4B-2452-7550-52E6-4B8619E5A1D8}"/>
              </a:ext>
            </a:extLst>
          </p:cNvPr>
          <p:cNvSpPr txBox="1"/>
          <p:nvPr/>
        </p:nvSpPr>
        <p:spPr>
          <a:xfrm>
            <a:off x="508000" y="1270000"/>
            <a:ext cx="8128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â€¢ Abstract
â€¢ Introduction
â€¢ Objectives
â€¢ Literature Review
â€¢ Proposed System
â€¢ Implementation
â€¢ Results &amp; Analysis
â€¢ Conclusion
â€¢ Future Work
â€¢ Current Progress
â€¢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746827-FAAF-7B42-81CE-C6D92D510E04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3306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E7F550-2211-1F8E-C315-E1FD6879B8FD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D9702-150A-5D10-630E-3330AACB0C8E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1. 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71DE9-0D5D-3C3B-5E6A-33A01C93A14F}"/>
              </a:ext>
            </a:extLst>
          </p:cNvPr>
          <p:cNvSpPr txBox="1"/>
          <p:nvPr/>
        </p:nvSpPr>
        <p:spPr>
          <a:xfrm>
            <a:off x="508000" y="1270000"/>
            <a:ext cx="812800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â€¢ AI-powered research tool for exploring scientific literature
â€¢ Combines Graph RAG with Large Language Models (LLMs)
â€¢ Multi-source data ingestion (arXiv, PubMed, Semantic Scholar)
â€¢ Zero-cost architecture using open-source tools
â€¢ Local LLM powered by Llama 3.2 via Ollama
â€¢ Interactive knowledge graph visualization
â€¢ Cloud-ready deployment with Docker/Kubernetes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999FD-E91A-A1EF-E292-99FF5FD8DC8D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731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1BBF7A-743F-4527-46AC-8C6F21BDFECF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7644A-4C2C-D1E1-E1F9-1BD24DB10174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2.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59178-11FC-782B-034E-FE7EDE1DE62D}"/>
              </a:ext>
            </a:extLst>
          </p:cNvPr>
          <p:cNvSpPr txBox="1"/>
          <p:nvPr/>
        </p:nvSpPr>
        <p:spPr>
          <a:xfrm>
            <a:off x="381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The Challenge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733AE-A3A9-42E7-1C68-AA0199630A3A}"/>
              </a:ext>
            </a:extLst>
          </p:cNvPr>
          <p:cNvSpPr txBox="1"/>
          <p:nvPr/>
        </p:nvSpPr>
        <p:spPr>
          <a:xfrm>
            <a:off x="381000" y="1651000"/>
            <a:ext cx="3937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Millions of papers published annually
â€¢ Hard to track latest developments
â€¢ Hidden connections between papers
â€¢ Methods evolve across domains
â€¢ Finding collaborators is difficult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BB13B-B53B-5584-3DF1-40390D0282DA}"/>
              </a:ext>
            </a:extLst>
          </p:cNvPr>
          <p:cNvSpPr txBox="1"/>
          <p:nvPr/>
        </p:nvSpPr>
        <p:spPr>
          <a:xfrm>
            <a:off x="4699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Current Limitations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90ACB6-3986-CC61-478D-D0BF6E9C639C}"/>
              </a:ext>
            </a:extLst>
          </p:cNvPr>
          <p:cNvSpPr txBox="1"/>
          <p:nvPr/>
        </p:nvSpPr>
        <p:spPr>
          <a:xfrm>
            <a:off x="4699000" y="1651000"/>
            <a:ext cx="3937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Documents treated as isolated
â€¢ No relationship awareness
â€¢ Cannot do multi-hop reasoning
â€¢ Lack visual exploration
â€¢ Expensive API-based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9CF2E-0484-F0AD-A01C-1D0EE4322334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6144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0722F0-59DA-BB2A-CBA9-6520B2A71419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F687A-B3FC-650B-D735-2FC0041DBAC4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3.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B38BB-E36D-01A2-ECE4-575CEE022539}"/>
              </a:ext>
            </a:extLst>
          </p:cNvPr>
          <p:cNvSpPr txBox="1"/>
          <p:nvPr/>
        </p:nvSpPr>
        <p:spPr>
          <a:xfrm>
            <a:off x="508000" y="1270000"/>
            <a:ext cx="812800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â€¢ Build zero-cost, fully open-source solution
â€¢ Implement multi-source paper ingestion pipeline
â€¢ Construct knowledge graph with entities and relationships
â€¢ Develop Graph RAG for context-aware retrieval
â€¢ Enable multi-hop reasoning across literature
â€¢ Create interactive visualization dashboard
â€¢ Ensure cloud-ready deployment capability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1E009-C644-12B9-374B-D76D16FB82E3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2535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01DAA-928B-331B-B2AF-8FD9F49BE708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96694-F020-CD01-F1DE-0E7A48E210F3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4. Literature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0BE87-F4A3-458F-B8D9-F7BEB0DFCBD3}"/>
              </a:ext>
            </a:extLst>
          </p:cNvPr>
          <p:cNvSpPr txBox="1"/>
          <p:nvPr/>
        </p:nvSpPr>
        <p:spPr>
          <a:xfrm>
            <a:off x="381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Related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0C2F7-4924-2242-C20A-A9D5B02B2C3C}"/>
              </a:ext>
            </a:extLst>
          </p:cNvPr>
          <p:cNvSpPr txBox="1"/>
          <p:nvPr/>
        </p:nvSpPr>
        <p:spPr>
          <a:xfrm>
            <a:off x="381000" y="1651000"/>
            <a:ext cx="3937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Microsoft GraphRAG (2024)
â€¢ Open Knowledge Maps
â€¢ Causaly (Biomedical KG)
â€¢ Edge et al. - Graph RAG paper
â€¢ Pan et al. - RAG with Graphs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FBE6F-F3A9-9549-C498-27E8EEAF2CFE}"/>
              </a:ext>
            </a:extLst>
          </p:cNvPr>
          <p:cNvSpPr txBox="1"/>
          <p:nvPr/>
        </p:nvSpPr>
        <p:spPr>
          <a:xfrm>
            <a:off x="4699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Technologies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2C6CD-015F-5BB8-063B-20415B90454D}"/>
              </a:ext>
            </a:extLst>
          </p:cNvPr>
          <p:cNvSpPr txBox="1"/>
          <p:nvPr/>
        </p:nvSpPr>
        <p:spPr>
          <a:xfrm>
            <a:off x="4699000" y="1651000"/>
            <a:ext cx="3937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Neo4j - Graph Database
â€¢ Ollama + Llama 3.2 - LLM
â€¢ FastAPI - Backend
â€¢ React + TypeScript - Frontend
â€¢ Cytoscape.js - Visualization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DA459C-7B00-43AD-3D38-EAA3BC237C2C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6360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1F53EB-1A40-C0EA-3EA1-74F017350B2D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74D12B-581D-CBE0-048B-94E0C96383B1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5. Proposed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51A13-2D33-7B79-17B6-B2AA27A7D6F5}"/>
              </a:ext>
            </a:extLst>
          </p:cNvPr>
          <p:cNvSpPr txBox="1"/>
          <p:nvPr/>
        </p:nvSpPr>
        <p:spPr>
          <a:xfrm>
            <a:off x="381000" y="1143000"/>
            <a:ext cx="838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262626"/>
                </a:solidFill>
              </a:rPr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3F68A-65D2-04B3-373A-478630DDA467}"/>
              </a:ext>
            </a:extLst>
          </p:cNvPr>
          <p:cNvSpPr txBox="1"/>
          <p:nvPr/>
        </p:nvSpPr>
        <p:spPr>
          <a:xfrm>
            <a:off x="508000" y="1651000"/>
            <a:ext cx="8128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â€¢ Microservices architecture with Docker containers
â€¢ Nginx reverse proxy for routing
â€¢ FastAPI backend for API and Graph RAG pipeline
â€¢ React frontend with Cytoscape.js visualization
â€¢ Neo4j for knowledge graph and vector storage
â€¢ Ollama service for local LLM inference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702600-2E07-FF1C-D6B6-2005937F6781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35241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4AE75C-F598-FBF7-D7FD-B3DE3C85CF19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6CA58-6FDC-01DB-1C03-8BA139DFDAA0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5. Proposed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376E74-9E3A-8D72-B4F0-903788808C15}"/>
              </a:ext>
            </a:extLst>
          </p:cNvPr>
          <p:cNvSpPr txBox="1"/>
          <p:nvPr/>
        </p:nvSpPr>
        <p:spPr>
          <a:xfrm>
            <a:off x="381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Graph Nodes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D06C9-9BC9-9F67-5489-384A951B3EE0}"/>
              </a:ext>
            </a:extLst>
          </p:cNvPr>
          <p:cNvSpPr txBox="1"/>
          <p:nvPr/>
        </p:nvSpPr>
        <p:spPr>
          <a:xfrm>
            <a:off x="381000" y="1651000"/>
            <a:ext cx="3937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Paper (title, abstract, embedding)
â€¢ Author (name, affiliation)
â€¢ Method (name, description)
â€¢ Dataset (name, description)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6EFB3-7123-348D-6AEF-E65B3B922CB1}"/>
              </a:ext>
            </a:extLst>
          </p:cNvPr>
          <p:cNvSpPr txBox="1"/>
          <p:nvPr/>
        </p:nvSpPr>
        <p:spPr>
          <a:xfrm>
            <a:off x="4699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Relationships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55054-A72E-28D2-01C8-3C8A703F1333}"/>
              </a:ext>
            </a:extLst>
          </p:cNvPr>
          <p:cNvSpPr txBox="1"/>
          <p:nvPr/>
        </p:nvSpPr>
        <p:spPr>
          <a:xfrm>
            <a:off x="4699000" y="1651000"/>
            <a:ext cx="3937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(Paper)-[:AUTHORED_BY]-&gt;(Author)
â€¢ (Paper)-[:CITES]-&gt;(Paper)
â€¢ (Paper)-[:PROPOSES_METHOD]-&gt;(Method)
â€¢ (Paper)-[:USES_DATASET]-&gt;(Dataset)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F3D6E-3517-F82D-3DC6-39AC2A919F83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02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2D603D-B406-8C12-82F0-AC10E36F1702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20239-DAB9-9096-4596-915D3E418101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6.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24849-09B4-0EFF-176C-9CE3BFE5CEA8}"/>
              </a:ext>
            </a:extLst>
          </p:cNvPr>
          <p:cNvSpPr txBox="1"/>
          <p:nvPr/>
        </p:nvSpPr>
        <p:spPr>
          <a:xfrm>
            <a:off x="381000" y="1143000"/>
            <a:ext cx="838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262626"/>
                </a:solidFill>
              </a:rPr>
              <a:t>Key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A5E333-BD97-E52D-AB94-8CA31BB8DF70}"/>
              </a:ext>
            </a:extLst>
          </p:cNvPr>
          <p:cNvSpPr txBox="1"/>
          <p:nvPr/>
        </p:nvSpPr>
        <p:spPr>
          <a:xfrm>
            <a:off x="508000" y="1651000"/>
            <a:ext cx="8128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â€¢ Query Parser - Natural language understanding
â€¢ Graph Retriever - Semantic search + graph traversal
â€¢ Answer Generator - LLM-powered responses
â€¢ Graph Builder - Knowledge graph construction
â€¢ Multi-Source Fetcher - arXiv, PubMed, Semantic Scholar
â€¢ Analytics Engine - Trends, clusters, summaries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65D35-F9BB-2074-4535-9094AF74EE59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7697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42F06-02DC-437F-5302-2C71424C59F1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2A5C9-6EED-9BCD-148A-5B1F89040D30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6.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B8546-E368-5C41-5303-204A389BC863}"/>
              </a:ext>
            </a:extLst>
          </p:cNvPr>
          <p:cNvSpPr txBox="1"/>
          <p:nvPr/>
        </p:nvSpPr>
        <p:spPr>
          <a:xfrm>
            <a:off x="381000" y="1143000"/>
            <a:ext cx="838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262626"/>
                </a:solidFill>
              </a:rPr>
              <a:t>API Endpoints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39D12-AE93-E984-E873-E95BB4F0EB73}"/>
              </a:ext>
            </a:extLst>
          </p:cNvPr>
          <p:cNvSpPr txBox="1"/>
          <p:nvPr/>
        </p:nvSpPr>
        <p:spPr>
          <a:xfrm>
            <a:off x="508000" y="1651000"/>
            <a:ext cx="8128000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â€¢ POST /query - Natural language queries with citations
â€¢ POST /ingest - Paper ingestion from sources
â€¢ GET /graph/export - Graph data for visualization
â€¢ GET /stats - Knowledge graph statistics
â€¢ GET /analytics/* - Trends and cluster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2C0ED-DE04-391E-3F74-69C66B473462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0883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E67DB2-46FA-0553-EB29-C100ED78C66D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B6CE6-8377-76AC-6504-8A7746460506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7. Results &amp;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6382B-87E0-2BC7-CEAD-F2694A857FA5}"/>
              </a:ext>
            </a:extLst>
          </p:cNvPr>
          <p:cNvSpPr txBox="1"/>
          <p:nvPr/>
        </p:nvSpPr>
        <p:spPr>
          <a:xfrm>
            <a:off x="381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Capabilities Achieved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2CEA2-2819-A19D-A6C3-BC1750697059}"/>
              </a:ext>
            </a:extLst>
          </p:cNvPr>
          <p:cNvSpPr txBox="1"/>
          <p:nvPr/>
        </p:nvSpPr>
        <p:spPr>
          <a:xfrm>
            <a:off x="381000" y="1651000"/>
            <a:ext cx="3937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Multi-source paper ingestion
â€¢ Entity extraction working
â€¢ Graph relationships created
â€¢ Semantic search functional
â€¢ Multi-hop reasoning enabled
â€¢ Interactive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6CF89-8EF8-14F3-1548-E6EE9E20A9E1}"/>
              </a:ext>
            </a:extLst>
          </p:cNvPr>
          <p:cNvSpPr txBox="1"/>
          <p:nvPr/>
        </p:nvSpPr>
        <p:spPr>
          <a:xfrm>
            <a:off x="4699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0CC36-4F10-B32B-3917-F35F236603BE}"/>
              </a:ext>
            </a:extLst>
          </p:cNvPr>
          <p:cNvSpPr txBox="1"/>
          <p:nvPr/>
        </p:nvSpPr>
        <p:spPr>
          <a:xfrm>
            <a:off x="4699000" y="1651000"/>
            <a:ext cx="3937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Simple queries: 2-5 seconds
â€¢ Complex queries: 5-15 seconds
â€¢ 100+ papers indexed
â€¢ 200+ authors tracked
â€¢ 500+ relationships created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FE1D7-5BDA-8F6D-3826-A4499012A6C4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8249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B7BB4A-09C9-7E06-B8A8-D1AA9AAB2F91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46801-B7EA-EF65-49EA-98B6678E4257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8.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A83AA6-D002-6C70-37F2-91495280C5FA}"/>
              </a:ext>
            </a:extLst>
          </p:cNvPr>
          <p:cNvSpPr txBox="1"/>
          <p:nvPr/>
        </p:nvSpPr>
        <p:spPr>
          <a:xfrm>
            <a:off x="508000" y="1270000"/>
            <a:ext cx="812800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â€¢ Successfully built zero-cost Graph RAG system
â€¢ Hybrid retrieval: vector similarity + graph traversal
â€¢ Multi-source integration (arXiv, PubMed, Semantic Scholar)
â€¢ Interactive knowledge graph visualization
â€¢ Local LLM eliminates API costs
â€¢ Docker/Kubernetes ready for deployment
â€¢ Enables discovery of hidden research connections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E8C8D-EB6D-2C23-B674-246E7ECF3CDD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8205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5E69E2-53ED-3B43-7DDF-AF6F08C01621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57AA5-57AD-FDD2-C845-EE8F227B14E2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9. 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F71C5-A5BA-0140-6C29-E7224A5D9937}"/>
              </a:ext>
            </a:extLst>
          </p:cNvPr>
          <p:cNvSpPr txBox="1"/>
          <p:nvPr/>
        </p:nvSpPr>
        <p:spPr>
          <a:xfrm>
            <a:off x="508000" y="1270000"/>
            <a:ext cx="812800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â€¢ Support for larger LLM context windows
â€¢ PDF upload and processing capability
â€¢ Temporal graph analysis and trend prediction
â€¢ Additional sources (IEEE Xplore, Google Scholar)
â€¢ Collaboration features and shared notebooks
â€¢ Export to reference managers
â€¢ Mobile-responsive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2C76B-E9BD-2056-0ADC-FDB71046091D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99868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5929EF-B2E2-174B-D234-2626E5EFE3C6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C4C04-3855-285A-CA8D-87739D775EBA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10. Current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30820-AF4A-D0F9-5EB3-04E0E321D56D}"/>
              </a:ext>
            </a:extLst>
          </p:cNvPr>
          <p:cNvSpPr txBox="1"/>
          <p:nvPr/>
        </p:nvSpPr>
        <p:spPr>
          <a:xfrm>
            <a:off x="381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Completed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4EA3E-ED08-745E-916D-013291240AAC}"/>
              </a:ext>
            </a:extLst>
          </p:cNvPr>
          <p:cNvSpPr txBox="1"/>
          <p:nvPr/>
        </p:nvSpPr>
        <p:spPr>
          <a:xfrm>
            <a:off x="381000" y="1651000"/>
            <a:ext cx="3937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FastAPI backend with REST API
â€¢ Neo4j graph database integration
â€¢ Ollama LLM connection
â€¢ Multi-source ingestion
â€¢ Graph RAG pipeline
â€¢ React frontend with viz
â€¢ Docker deployment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8946F-8123-4569-5CF2-2C661488074B}"/>
              </a:ext>
            </a:extLst>
          </p:cNvPr>
          <p:cNvSpPr txBox="1"/>
          <p:nvPr/>
        </p:nvSpPr>
        <p:spPr>
          <a:xfrm>
            <a:off x="4699000" y="1206500"/>
            <a:ext cx="3937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2626"/>
                </a:solidFill>
              </a:rPr>
              <a:t>In Progress / Pending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6CF6B-9C8E-7B58-1845-62303D43E0BB}"/>
              </a:ext>
            </a:extLst>
          </p:cNvPr>
          <p:cNvSpPr txBox="1"/>
          <p:nvPr/>
        </p:nvSpPr>
        <p:spPr>
          <a:xfrm>
            <a:off x="4699000" y="1651000"/>
            <a:ext cx="3937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â€¢ Performance optimization
â€¢ Enhanced error handling
â€¢ Cloud deployment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B3029-623F-D072-D395-BF8CE54AFBC5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05251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E124BD-9C6E-13B7-1B5D-16AF6447DDBC}"/>
              </a:ext>
            </a:extLst>
          </p:cNvPr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24C4C9-C622-8F4D-8E22-FA9971B2F619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11.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B8026-A366-72D7-9F23-018D1C16505A}"/>
              </a:ext>
            </a:extLst>
          </p:cNvPr>
          <p:cNvSpPr txBox="1"/>
          <p:nvPr/>
        </p:nvSpPr>
        <p:spPr>
          <a:xfrm>
            <a:off x="508000" y="1270000"/>
            <a:ext cx="8128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â€¢ Edge, D. et al. (2024) - From Local to Global: A Graph RAG Approach
â€¢ Pan, S. et al. (2024) - Retrieval-Augmented Generation with Graphs
â€¢ Neo4j - https://neo4j.com/
â€¢ Ollama - https://ollama.ai/
â€¢ FastAPI - https://fastapi.tiangolo.com/
â€¢ Cytoscape.js - https://js.cytoscape.org/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F3F6F-56EB-0A6F-8824-91DE042F6F77}"/>
              </a:ext>
            </a:extLst>
          </p:cNvPr>
          <p:cNvSpPr txBox="1"/>
          <p:nvPr/>
        </p:nvSpPr>
        <p:spPr>
          <a:xfrm>
            <a:off x="8255000" y="6350000"/>
            <a:ext cx="63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8080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36790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3CDDD4-0729-0EB7-0CAF-3B88489D32D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6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45200-48AD-F5A0-8D82-1DA201A2E2D0}"/>
              </a:ext>
            </a:extLst>
          </p:cNvPr>
          <p:cNvSpPr txBox="1"/>
          <p:nvPr/>
        </p:nvSpPr>
        <p:spPr>
          <a:xfrm>
            <a:off x="381000" y="2286000"/>
            <a:ext cx="838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5432E-315E-A88E-7E30-6BC197D46042}"/>
              </a:ext>
            </a:extLst>
          </p:cNvPr>
          <p:cNvSpPr txBox="1"/>
          <p:nvPr/>
        </p:nvSpPr>
        <p:spPr>
          <a:xfrm>
            <a:off x="381000" y="3556000"/>
            <a:ext cx="838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9073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Microsoft Office PowerPoint</Application>
  <PresentationFormat>Widescreen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Stalino A.J</dc:creator>
  <cp:lastModifiedBy>Stalino A.J</cp:lastModifiedBy>
  <cp:revision>1</cp:revision>
  <dcterms:created xsi:type="dcterms:W3CDTF">2026-01-27T14:35:04Z</dcterms:created>
  <dcterms:modified xsi:type="dcterms:W3CDTF">2026-01-27T14:35:04Z</dcterms:modified>
</cp:coreProperties>
</file>